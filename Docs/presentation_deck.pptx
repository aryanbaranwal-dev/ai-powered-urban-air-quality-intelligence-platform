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Arial"/>
              </a:rPr>
              <a:t>% RMSE Improvement Over Baseline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Delhi</c:v>
                </c:pt>
              </c:strCache>
            </c:strRef>
          </c:tx>
          <c:spPr>
            <a:solidFill>
              <a:srgbClr val="118AB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1-day</c:v>
                  </c:pt>
                  <c:pt idx="1">
                    <c:v>2-day</c:v>
                  </c:pt>
                  <c:pt idx="2">
                    <c:v>3-day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9.8</c:v>
                </c:pt>
                <c:pt idx="1">
                  <c:v>10.9</c:v>
                </c:pt>
                <c:pt idx="2">
                  <c:v>14.4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Mumbai</c:v>
                </c:pt>
              </c:strCache>
            </c:strRef>
          </c:tx>
          <c:spPr>
            <a:solidFill>
              <a:srgbClr val="FF9F1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1-day</c:v>
                  </c:pt>
                  <c:pt idx="1">
                    <c:v>2-day</c:v>
                  </c:pt>
                  <c:pt idx="2">
                    <c:v>3-day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</c:v>
                </c:pt>
                <c:pt idx="1">
                  <c:v>9.4</c:v>
                </c:pt>
                <c:pt idx="2">
                  <c:v>7.4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5F7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0E0E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% Improvement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5F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00000"/>
                </a:solidFill>
                <a:latin typeface="Arial"/>
              </a:rPr>
              <a:t>Delhi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Delhi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18AB2"/>
              </a:solidFill>
              <a:effectLst/>
            </c:spPr>
          </c:dPt>
          <c:dPt>
            <c:idx val="1"/>
            <c:bubble3D val="0"/>
            <c:spPr>
              <a:solidFill>
                <a:srgbClr val="FF9F1C"/>
              </a:solidFill>
              <a:effectLst/>
            </c:spPr>
          </c:dPt>
          <c:dPt>
            <c:idx val="2"/>
            <c:bubble3D val="0"/>
            <c:spPr>
              <a:solidFill>
                <a:srgbClr val="3A3D5C"/>
              </a:solidFill>
              <a:effectLst/>
            </c:spPr>
          </c:dPt>
          <c:dPt>
            <c:idx val="3"/>
            <c:bubble3D val="0"/>
            <c:spPr>
              <a:solidFill>
                <a:srgbClr val="9AA3B2"/>
              </a:solidFill>
              <a:effectLst/>
            </c:spPr>
          </c:dPt>
          <c:dPt>
            <c:idx val="4"/>
            <c:bubble3D val="0"/>
            <c:spPr>
              <a:solidFill>
                <a:srgbClr val="C9CBD3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Traffic</c:v>
                </c:pt>
                <c:pt idx="1">
                  <c:v>Construction/Dust</c:v>
                </c:pt>
                <c:pt idx="2">
                  <c:v>Photochemical</c:v>
                </c:pt>
                <c:pt idx="3">
                  <c:v>Industrial</c:v>
                </c:pt>
                <c:pt idx="4">
                  <c:v>Biomass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56.8</c:v>
                </c:pt>
                <c:pt idx="1">
                  <c:v>25.8</c:v>
                </c:pt>
                <c:pt idx="2">
                  <c:v>13.6</c:v>
                </c:pt>
                <c:pt idx="3">
                  <c:v>2</c:v>
                </c:pt>
                <c:pt idx="4">
                  <c:v>1.8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8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00000"/>
                </a:solidFill>
                <a:latin typeface="Arial"/>
              </a:rPr>
              <a:t>Mumbai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Mumbai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18AB2"/>
              </a:solidFill>
              <a:effectLst/>
            </c:spPr>
          </c:dPt>
          <c:dPt>
            <c:idx val="1"/>
            <c:bubble3D val="0"/>
            <c:spPr>
              <a:solidFill>
                <a:srgbClr val="FF9F1C"/>
              </a:solidFill>
              <a:effectLst/>
            </c:spPr>
          </c:dPt>
          <c:dPt>
            <c:idx val="2"/>
            <c:bubble3D val="0"/>
            <c:spPr>
              <a:solidFill>
                <a:srgbClr val="3A3D5C"/>
              </a:solidFill>
              <a:effectLst/>
            </c:spPr>
          </c:dPt>
          <c:dPt>
            <c:idx val="3"/>
            <c:bubble3D val="0"/>
            <c:spPr>
              <a:solidFill>
                <a:srgbClr val="9AA3B2"/>
              </a:solidFill>
              <a:effectLst/>
            </c:spPr>
          </c:dPt>
          <c:dPt>
            <c:idx val="4"/>
            <c:bubble3D val="0"/>
            <c:spPr>
              <a:solidFill>
                <a:srgbClr val="C9CBD3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Traffic</c:v>
                </c:pt>
                <c:pt idx="1">
                  <c:v>Construction/Dust</c:v>
                </c:pt>
                <c:pt idx="2">
                  <c:v>Photochemical</c:v>
                </c:pt>
                <c:pt idx="3">
                  <c:v>Industrial</c:v>
                </c:pt>
                <c:pt idx="4">
                  <c:v>Biomass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55</c:v>
                </c:pt>
                <c:pt idx="1">
                  <c:v>31.4</c:v>
                </c:pt>
                <c:pt idx="2">
                  <c:v>10.1</c:v>
                </c:pt>
                <c:pt idx="3">
                  <c:v>2.9</c:v>
                </c:pt>
                <c:pt idx="4">
                  <c:v>0.5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Arial"/>
              </a:rPr>
              <a:t>Average AQI (real historical data)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AQI</c:v>
                </c:pt>
              </c:strCache>
            </c:strRef>
          </c:tx>
          <c:spPr>
            <a:solidFill>
              <a:srgbClr val="118AB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Delhi</c:v>
                  </c:pt>
                  <c:pt idx="1">
                    <c:v>Mumbai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268.5</c:v>
                </c:pt>
                <c:pt idx="1">
                  <c:v>105.9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5F7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5F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Arial"/>
              </a:rPr>
              <a:t>Top-2 Pollution Sources (% days dominant)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Traffic</c:v>
                </c:pt>
              </c:strCache>
            </c:strRef>
          </c:tx>
          <c:spPr>
            <a:solidFill>
              <a:srgbClr val="FF9F1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Delhi</c:v>
                  </c:pt>
                  <c:pt idx="1">
                    <c:v>Mumbai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56.8</c:v>
                </c:pt>
                <c:pt idx="1">
                  <c:v>55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Construction/Dust</c:v>
                </c:pt>
              </c:strCache>
            </c:strRef>
          </c:tx>
          <c:spPr>
            <a:solidFill>
              <a:srgbClr val="3A3D5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Delhi</c:v>
                  </c:pt>
                  <c:pt idx="1">
                    <c:v>Mumbai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25.8</c:v>
                </c:pt>
                <c:pt idx="1">
                  <c:v>31.4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5F7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5F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AI-Powered Urban Air Quality Intelligence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35204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Reactive Monitoring to Proactive, Evidence-Based Intervention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31520" y="41148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E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Cities  •  Environmental Intelligence  •  Geospatial Analytics  •  Public Health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784080" y="548640"/>
            <a:ext cx="2011680" cy="2011680"/>
          </a:xfrm>
          <a:prstGeom prst="ellipse">
            <a:avLst/>
          </a:prstGeom>
          <a:solidFill>
            <a:srgbClr val="118AB2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607040" y="1280160"/>
            <a:ext cx="1097280" cy="1097280"/>
          </a:xfrm>
          <a:prstGeom prst="ellipse">
            <a:avLst/>
          </a:prstGeom>
          <a:solidFill>
            <a:srgbClr val="FF9F1C">
              <a:alpha val="3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5943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Delhi + Mumbai  ·  Real CPCB Data  ·  6 Chained AI Agents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India's Air Quality Crisis Is a National Emergency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2560320" cy="27432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5400000">
              <a:srgbClr val="999999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82880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1.67M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85800" y="278892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premature deaths/year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attributed to air pollution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(Lancet Planetary Health)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337560" y="1554480"/>
            <a:ext cx="2560320" cy="27432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5400000">
              <a:srgbClr val="999999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337560" y="182880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18A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218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3474720" y="278892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Delhi's average AQI in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2024-25 — 'Poor' or worse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200+ days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26480" y="1554480"/>
            <a:ext cx="2560320" cy="27432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5400000">
              <a:srgbClr val="999999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126480" y="182880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9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24/50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6263640" y="278892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India's most polluted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cities are Tier 1/2 urban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centres (CPCB, 2024)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915400" y="1554480"/>
            <a:ext cx="2560320" cy="27432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5400000">
              <a:srgbClr val="999999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915400" y="182880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A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31%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9052560" y="278892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monitored cities have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actionable multi-agency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protocol (CAG audit)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46634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i="1" dirty="0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 exists. The intelligence layer to act on it does not.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548640" y="52578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900+ CAAQMS stations deployed nationally under NCAP — yet most cities can't turn readings into action.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5F73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Platform, Four Connected Capabilities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chained multi-agent system: each agent's output feeds the next — not four disconnected tools.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685800" cy="685800"/>
          </a:xfrm>
          <a:prstGeom prst="ellipse">
            <a:avLst/>
          </a:prstGeom>
          <a:solidFill>
            <a:srgbClr val="118AB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745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554480" y="18288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Hyperlocal Forecasting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54480" y="2258568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1-3 day AQI prediction, beats naive baseline by 7-14% (real RMSE)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953512"/>
            <a:ext cx="685800" cy="685800"/>
          </a:xfrm>
          <a:prstGeom prst="ellipse">
            <a:avLst/>
          </a:prstGeom>
          <a:solidFill>
            <a:srgbClr val="FF9F1C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953512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554480" y="290779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 Attribution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54480" y="333756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Chemistry-based scoring: traffic, dust, industry, biomass, photochemical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4032504"/>
            <a:ext cx="685800" cy="68580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032504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554480" y="3986784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Enforcement Intelligence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54480" y="4416552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Ranked, evidence-backed action list — severity × confidence × trend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5111496"/>
            <a:ext cx="685800" cy="685800"/>
          </a:xfrm>
          <a:prstGeom prst="ellipse">
            <a:avLst/>
          </a:prstGeom>
          <a:solidFill>
            <a:srgbClr val="118AB2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5111496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554480" y="506577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Citizen Health Advisory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554480" y="5495544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(Hindi/Marathi), 3 channels: app, display, IVR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052560" y="1874520"/>
            <a:ext cx="2606040" cy="4114800"/>
          </a:xfrm>
          <a:prstGeom prst="roundRect">
            <a:avLst>
              <a:gd name="adj" fmla="val 3509"/>
            </a:avLst>
          </a:prstGeom>
          <a:solidFill>
            <a:srgbClr val="2B2D42"/>
          </a:solidFill>
          <a:ln/>
        </p:spPr>
      </p:sp>
      <p:sp>
        <p:nvSpPr>
          <p:cNvPr id="21" name="Text 19"/>
          <p:cNvSpPr/>
          <p:nvPr/>
        </p:nvSpPr>
        <p:spPr>
          <a:xfrm>
            <a:off x="9235440" y="21031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9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Multi-City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9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Comparison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235440" y="274320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Delhi vs. Mumbai run through the identical pipeline — comparison comes free, not bolted on.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5F73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pic>
        <p:nvPicPr>
          <p:cNvPr id="3" name="Image 0" descr="/home/claude/aqi_project/deliverables/architecture_diagra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143000"/>
            <a:ext cx="11247120" cy="53492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5F73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1: Hyperlocal Forecasting — Real Validated Results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model vs. persistence baseline ("tomorrow = today") — strict time-based train/test split, no leakage.</a:t>
            </a:r>
            <a:endParaRPr lang="en-US" sz="12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45920"/>
          <a:ext cx="658368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406640" y="1645920"/>
            <a:ext cx="4206240" cy="4206240"/>
          </a:xfrm>
          <a:prstGeom prst="roundRect">
            <a:avLst>
              <a:gd name="adj" fmla="val 2174"/>
            </a:avLst>
          </a:prstGeom>
          <a:solidFill>
            <a:srgbClr val="2B2D42"/>
          </a:solidFill>
          <a:ln/>
        </p:spPr>
      </p:sp>
      <p:sp>
        <p:nvSpPr>
          <p:cNvPr id="6" name="Text 3"/>
          <p:cNvSpPr/>
          <p:nvPr/>
        </p:nvSpPr>
        <p:spPr>
          <a:xfrm>
            <a:off x="7635240" y="18288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Delhi improves less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635240" y="2286000"/>
            <a:ext cx="3749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Delhi's winter smog is so persistently high that even the naive baseline is already accurate — volatility comes from external shocks (crop burning, inversions), not smooth trends.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exactly why source attribution matters more for Delhi than pure forecasting.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7635240" y="42976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EC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1,603 / 629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7635240" y="47548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days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(Delhi / Mumbai)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9509760" y="42976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ECA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284 / 112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9509760" y="47548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test days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(never seen in training)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5F73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2: Source Attribution — Grounded in Real Chemistry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synthetic guesswork — built on real pollutant signatures used in actual source-apportionment science.</a:t>
            </a:r>
            <a:endParaRPr lang="en-US" sz="12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5852160" cy="2743200"/>
        </p:xfrm>
        <a:graphic>
          <a:graphicData uri="http://schemas.openxmlformats.org/drawingml/2006/table">
            <a:tbl>
              <a:tblPr/>
              <a:tblGrid>
                <a:gridCol w="2743200"/>
                <a:gridCol w="31089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4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NO2 + 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Vehicular traffic exhaust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PM10 vs. PM2.5 ratio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Construction / road dust (coarse particles)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Industrial combustion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PM2.5 spike, Oct 15–Nov 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Crop residue / stubble burning (Delhi)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Secondary / photochemical formation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Chart 0" descr=""/>
          <p:cNvGraphicFramePr/>
          <p:nvPr/>
        </p:nvGraphicFramePr>
        <p:xfrm>
          <a:off x="548640" y="4480560"/>
          <a:ext cx="2743200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3291840" y="4480560"/>
          <a:ext cx="2743200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2"/>
          <p:cNvSpPr/>
          <p:nvPr/>
        </p:nvSpPr>
        <p:spPr>
          <a:xfrm>
            <a:off x="6675120" y="1600200"/>
            <a:ext cx="4937760" cy="5074920"/>
          </a:xfrm>
          <a:prstGeom prst="roundRect">
            <a:avLst>
              <a:gd name="adj" fmla="val 1852"/>
            </a:avLst>
          </a:prstGeom>
          <a:solidFill>
            <a:srgbClr val="2B2D42"/>
          </a:solidFill>
          <a:ln/>
        </p:spPr>
      </p:sp>
      <p:sp>
        <p:nvSpPr>
          <p:cNvPr id="8" name="Text 3"/>
          <p:cNvSpPr/>
          <p:nvPr/>
        </p:nvSpPr>
        <p:spPr>
          <a:xfrm>
            <a:off x="6903720" y="178308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9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Fair scoring, not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9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winner-take-all noise</a:t>
            </a:r>
            <a:endParaRPr lang="en-US" sz="1500" dirty="0"/>
          </a:p>
        </p:txBody>
      </p:sp>
      <p:sp>
        <p:nvSpPr>
          <p:cNvPr id="9" name="Text 4"/>
          <p:cNvSpPr/>
          <p:nvPr/>
        </p:nvSpPr>
        <p:spPr>
          <a:xfrm>
            <a:off x="6903720" y="2468880"/>
            <a:ext cx="44805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source signal is ranked against its own history, then blended with a literature-informed prior (~30% traffic, ~20% dust, ~15% industrial baseline for Indian metros) — so no single noisy metric dominates by statistical accident.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Traffic correctly leads in both cities (matching real-world consensus), with a defensible confidence score per ward.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6903720" y="557784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8D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Ward-level split across 12 named zones (Anand Vihar, Okhla, Chembur…) is a documented SIMULATED layer — real hyperlocal sensor data isn't public.</a:t>
            </a:r>
            <a:endParaRPr lang="en-US" sz="1000" dirty="0"/>
          </a:p>
        </p:txBody>
      </p:sp>
      <p:sp>
        <p:nvSpPr>
          <p:cNvPr id="11" name="Text 6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5F73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3: Enforcement Intelligence — Ranked &amp; Evidence-Backed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every source is enforceable — the system distinguishes actionable sources from weather-driven ones.</a:t>
            </a:r>
            <a:endParaRPr lang="en-US" sz="12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0972800" cy="2286000"/>
        </p:xfrm>
        <a:graphic>
          <a:graphicData uri="http://schemas.openxmlformats.org/drawingml/2006/table">
            <a:tbl>
              <a:tblPr/>
              <a:tblGrid>
                <a:gridCol w="731520"/>
                <a:gridCol w="2377440"/>
                <a:gridCol w="822960"/>
                <a:gridCol w="2194560"/>
                <a:gridCol w="3931920"/>
                <a:gridCol w="9144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AQI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Enforceable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4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Okhla Industrial (Delhi)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Industrial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Inspect stack emissions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Anand Vihar (Delhi)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Construction/Dust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Inspect dust-control compliance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Rohini (Delhi)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Construction/Dust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Inspect dust-control compliance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Chembur (Mumbai)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Industrial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Inspect stack emissions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160520"/>
            <a:ext cx="534924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7240" y="43434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Priority Score Formula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77240" y="48006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 ×  Actionability Multiplier  ×  Forecast Trend Boost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77240" y="530352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sources get 1.3× weight; non-enforceable (photochemical/weather) get 0.6× and route to advisories instead of raids.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080760" y="4160520"/>
            <a:ext cx="5349240" cy="2011680"/>
          </a:xfrm>
          <a:prstGeom prst="roundRect">
            <a:avLst>
              <a:gd name="adj" fmla="val 4545"/>
            </a:avLst>
          </a:prstGeom>
          <a:solidFill>
            <a:srgbClr val="2B2D42"/>
          </a:solidFill>
          <a:ln/>
        </p:spPr>
      </p:sp>
      <p:sp>
        <p:nvSpPr>
          <p:cNvPr id="10" name="Text 7"/>
          <p:cNvSpPr/>
          <p:nvPr/>
        </p:nvSpPr>
        <p:spPr>
          <a:xfrm>
            <a:off x="6309360" y="43434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Non-Enforceable Example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309360" y="480060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Secondary/Photochemical (ozone) sources → "Issue public health advisory" instead of an inspection — there's no physical site to raid for a regional weather-driven process.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5F73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4: Citizen Health Advisory — Multilingual, Multi-Channel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 alert records generated: 12 wards × 2 languages × 3 channels.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6616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8288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📱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31520" y="23317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8A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 App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69748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groups may experience mild discomfort. Consider reducing prolonged outdoor exertion.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343400" y="1691640"/>
            <a:ext cx="356616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26280" y="18288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📺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526280" y="23317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8A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 Display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26280" y="269748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AQI ALERT - Anand Vihar - Moderate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groups take precaution.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138160" y="1691640"/>
            <a:ext cx="356616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21040" y="18288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☎️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8321040" y="23317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8A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IVR Voice Script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321040" y="269748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an automated air quality alert for Anand Vihar. Sensitive groups should limit outdoor exertion.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640" y="4343400"/>
            <a:ext cx="10972800" cy="1828800"/>
          </a:xfrm>
          <a:prstGeom prst="roundRect">
            <a:avLst>
              <a:gd name="adj" fmla="val 5000"/>
            </a:avLst>
          </a:prstGeom>
          <a:solidFill>
            <a:srgbClr val="2B2D42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5262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Hand-written translations, not machine translation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7240" y="49377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 (Delhi) / Marathi (Mumbai) advisory text is deliberately hand-composed, not run through live machine translation — mistranslated health guidance carries real risk. Zero internet dependency at generation time.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77240" y="54406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हवा की गुणवत्ता मध्यम है। संवेदनशील लोग सावधान रहें।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5F73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Multi-City Comparative Intelligence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pipeline runs Delhi and Mumbai side-by-side — comparison is architectural, not an afterthought.</a:t>
            </a:r>
            <a:endParaRPr lang="en-US" sz="12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45920"/>
          <a:ext cx="521208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6035040" y="1645920"/>
          <a:ext cx="55778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/>
          <p:nvPr/>
        </p:nvSpPr>
        <p:spPr>
          <a:xfrm>
            <a:off x="548640" y="6035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Mumbai's coastal sea-breeze effect naturally disperses pollution, while Delhi's landlocked geography + winter inversions trap it — explaining both the AQI gap and Delhi's higher construction/dust share.</a:t>
            </a:r>
            <a:endParaRPr lang="en-US" sz="1150" dirty="0"/>
          </a:p>
        </p:txBody>
      </p:sp>
      <p:sp>
        <p:nvSpPr>
          <p:cNvPr id="7" name="Text 3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5F73"/>
                </a:solidFill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on Real Data — Transparent About What's Simulated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520440" cy="429768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2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783080"/>
            <a:ext cx="3063240" cy="502920"/>
          </a:xfrm>
          <a:prstGeom prst="roundRect">
            <a:avLst>
              <a:gd name="adj" fmla="val 14545"/>
            </a:avLst>
          </a:prstGeom>
          <a:solidFill>
            <a:srgbClr val="2E7D32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78308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5146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CPCB Air Quality Data (2015-2020)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32004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AQI, PM2.5, PM10, NO2, SO2, CO, O3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38862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Delhi: 1,897 days • Mumbai: 751 days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45720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Real dates → real seasonal patterns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97680" y="1554480"/>
            <a:ext cx="3520440" cy="429768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26280" y="1783080"/>
            <a:ext cx="3063240" cy="502920"/>
          </a:xfrm>
          <a:prstGeom prst="roundRect">
            <a:avLst>
              <a:gd name="adj" fmla="val 14545"/>
            </a:avLst>
          </a:prstGeom>
          <a:solidFill>
            <a:srgbClr val="118AB2"/>
          </a:solidFill>
          <a:ln/>
        </p:spPr>
      </p:sp>
      <p:sp>
        <p:nvSpPr>
          <p:cNvPr id="12" name="Text 10"/>
          <p:cNvSpPr/>
          <p:nvPr/>
        </p:nvSpPr>
        <p:spPr>
          <a:xfrm>
            <a:off x="4526280" y="178308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CHEMISTRY-DERIVED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0" y="25146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Source attribution scores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0" y="32004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Computed from real pollutant ratios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0" y="38862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Calibrated against literature-informed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0" y="45720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priors for Indian metro source splits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046720" y="1554480"/>
            <a:ext cx="3520440" cy="429768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275320" y="1783080"/>
            <a:ext cx="3063240" cy="502920"/>
          </a:xfrm>
          <a:prstGeom prst="roundRect">
            <a:avLst>
              <a:gd name="adj" fmla="val 14545"/>
            </a:avLst>
          </a:prstGeom>
          <a:solidFill>
            <a:srgbClr val="FF9F1C"/>
          </a:solidFill>
          <a:ln/>
        </p:spPr>
      </p:sp>
      <p:sp>
        <p:nvSpPr>
          <p:cNvPr id="19" name="Text 17"/>
          <p:cNvSpPr/>
          <p:nvPr/>
        </p:nvSpPr>
        <p:spPr>
          <a:xfrm>
            <a:off x="8275320" y="178308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SIMULATED (documented)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321040" y="25146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Ward/zone-level geographic split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321040" y="32004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Named after real CPCB station areas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321040" y="38862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Zone-type multipliers (traffic/industrial)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321040" y="45720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Real ward sensors aren't public data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5F73"/>
                </a:solidFill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Mapped to Evaluation Criteria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371600" cy="731520"/>
          </a:xfrm>
          <a:prstGeom prst="roundRect">
            <a:avLst>
              <a:gd name="adj" fmla="val 12500"/>
            </a:avLst>
          </a:prstGeom>
          <a:solidFill>
            <a:srgbClr val="2B2D4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1732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9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25%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103120" y="14356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Impact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103120" y="1783080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Enforcement agent turns signals into prioritised municipal action; forecast enables scheduling, not just reacting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377440"/>
            <a:ext cx="1371600" cy="731520"/>
          </a:xfrm>
          <a:prstGeom prst="roundRect">
            <a:avLst>
              <a:gd name="adj" fmla="val 12500"/>
            </a:avLst>
          </a:prstGeom>
          <a:solidFill>
            <a:srgbClr val="2B2D42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37744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9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25%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103120" y="23957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Excellence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103120" y="2743200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data, validated RMSE vs. baseline, documented bug-fix (attribution scoring), no data leakage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337560"/>
            <a:ext cx="1371600" cy="731520"/>
          </a:xfrm>
          <a:prstGeom prst="roundRect">
            <a:avLst>
              <a:gd name="adj" fmla="val 12500"/>
            </a:avLst>
          </a:prstGeom>
          <a:solidFill>
            <a:srgbClr val="2B2D42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33756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9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20%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103120" y="33558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Scalability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103120" y="3703320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pipeline already runs 2 cities identically; adding a city = adding a CSV, no architecture change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4297680"/>
            <a:ext cx="1371600" cy="731520"/>
          </a:xfrm>
          <a:prstGeom prst="roundRect">
            <a:avLst>
              <a:gd name="adj" fmla="val 12500"/>
            </a:avLst>
          </a:prstGeom>
          <a:solidFill>
            <a:srgbClr val="2B2D42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429768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9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15%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103120" y="43159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Innovation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103120" y="4663440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Chemistry-grounded attribution (not black-box ML) + actionability-aware enforcement routing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5257800"/>
            <a:ext cx="1371600" cy="731520"/>
          </a:xfrm>
          <a:prstGeom prst="roundRect">
            <a:avLst>
              <a:gd name="adj" fmla="val 12500"/>
            </a:avLst>
          </a:prstGeom>
          <a:solidFill>
            <a:srgbClr val="2B2D42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525780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9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15%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2103120" y="52760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Experience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103120" y="5623560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dashboard, 5 tabs, plain-language multilingual citizen alerts across 3 channels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5F73"/>
                </a:solidFill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 Limitations &amp; Roadmap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We'd rather show you what we know is incomplete than hide it.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0AA6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6479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is city-level, not per-ward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172200" y="1691640"/>
            <a:ext cx="53949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8ECA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55080" y="176479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355080" y="201168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gridded meteorological + traffic data for true 1km-grid resolution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743200"/>
            <a:ext cx="53949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0AA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81635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31520" y="306324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 attribution is a simulated layer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72200" y="2743200"/>
            <a:ext cx="53949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8ECA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281635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355080" y="306324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with municipal bodies for real ward-level CAAQMS deployment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794760"/>
            <a:ext cx="53949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0AA6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86791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31520" y="411480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2 cities, data through mid-2020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72200" y="3794760"/>
            <a:ext cx="53949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8ECA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55080" y="386791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355080" y="411480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pipeline to Kolkata, Bengaluru, Chennai; refresh with live CPCB feed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4846320"/>
            <a:ext cx="53949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0AA6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491947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31520" y="516636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satellite/thermal anomaly data yet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172200" y="4846320"/>
            <a:ext cx="53949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8ECA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55080" y="491947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355080" y="516636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Sentinel/MODIS integration for direct fire/hotspot detection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5F73"/>
                </a:solidFill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B2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37744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Measuring to Acting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32918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working, validated, honestly-documented prototype — ready to extend from 2 cities to every Tier 1/2 city in India.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9966960" y="640080"/>
            <a:ext cx="1645920" cy="1645920"/>
          </a:xfrm>
          <a:prstGeom prst="ellipse">
            <a:avLst/>
          </a:prstGeom>
          <a:solidFill>
            <a:srgbClr val="118AB2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607040" y="1371600"/>
            <a:ext cx="914400" cy="914400"/>
          </a:xfrm>
          <a:prstGeom prst="ellipse">
            <a:avLst/>
          </a:prstGeom>
          <a:solidFill>
            <a:srgbClr val="FF9F1C">
              <a:alpha val="3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42976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9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2026-07-18T06:10:49Z</dcterms:created>
  <dcterms:modified xsi:type="dcterms:W3CDTF">2026-07-18T06:10:49Z</dcterms:modified>
</cp:coreProperties>
</file>